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4C5FE-9242-494E-9252-BA401AC4CBA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130F-3255-4DE2-89FB-9545EF710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3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130F-3255-4DE2-89FB-9545EF710C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55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9E795"/>
                </a:solidFill>
                <a:latin typeface="Calibri"/>
              </a:rPr>
              <a:t>SENTIMENT ANALYSIS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9601200" cy="1371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Vibe Check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Teaching machines to read the room — one tweet at a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94960"/>
            <a:ext cx="201168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7772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Comparing five AI approaches to detect positive and negative sentiment in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2F3C7E"/>
                </a:solidFill>
                <a:latin typeface="Cambria"/>
              </a:rPr>
              <a:t>Why Bother Checking the Vibe?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Every day, people post millions of opinions online — and reading them one by one just isn't possible.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383280" cy="3291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920239" y="2514600"/>
            <a:ext cx="822960" cy="8229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39" y="2514600"/>
            <a:ext cx="822960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29260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2F3C7E"/>
                </a:solidFill>
                <a:latin typeface="Cambria"/>
              </a:rPr>
              <a:t>Too much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083" y="4023360"/>
            <a:ext cx="2635273" cy="57708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Millions of posts, reviews, and</a:t>
            </a:r>
            <a:endParaRPr lang="en-US" sz="1250" b="0" i="0" dirty="0">
              <a:solidFill>
                <a:srgbClr val="2B2B2B"/>
              </a:solidFill>
              <a:latin typeface="Calibri"/>
            </a:endParaRPr>
          </a:p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 tweets are published</a:t>
            </a:r>
            <a:endParaRPr lang="en-US" sz="1250" b="0" i="0" dirty="0">
              <a:solidFill>
                <a:srgbClr val="2B2B2B"/>
              </a:solidFill>
              <a:latin typeface="Calibri"/>
            </a:endParaRPr>
          </a:p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 every day — no team can read them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3383280" cy="3291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23560" y="2514600"/>
            <a:ext cx="822960" cy="82296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3560" y="2514600"/>
            <a:ext cx="822960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20440"/>
            <a:ext cx="29260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2F3C7E"/>
                </a:solidFill>
                <a:latin typeface="Cambria"/>
              </a:rPr>
              <a:t>Too little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2531" y="4023360"/>
            <a:ext cx="3345019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Businesses and researchers need</a:t>
            </a:r>
            <a:endParaRPr lang="en-US" sz="1250" b="0" i="0" dirty="0">
              <a:solidFill>
                <a:srgbClr val="2B2B2B"/>
              </a:solidFill>
              <a:latin typeface="Calibri"/>
            </a:endParaRPr>
          </a:p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 to know how people feel right now, not next week.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148840"/>
            <a:ext cx="3383280" cy="3291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0" y="2514600"/>
            <a:ext cx="822960" cy="8229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2514600"/>
            <a:ext cx="822960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520440"/>
            <a:ext cx="29260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2F3C7E"/>
                </a:solidFill>
                <a:latin typeface="Cambria"/>
              </a:rPr>
              <a:t>A job for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4016" y="4023360"/>
            <a:ext cx="2468689" cy="57708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A model that automatically labels text</a:t>
            </a:r>
            <a:endParaRPr lang="en-US" sz="1250" b="0" i="0" dirty="0">
              <a:solidFill>
                <a:srgbClr val="2B2B2B"/>
              </a:solidFill>
              <a:latin typeface="Calibri"/>
            </a:endParaRPr>
          </a:p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 as positive or negativ</a:t>
            </a:r>
            <a:r>
              <a:rPr lang="en-US" sz="1250" b="0" i="0" dirty="0">
                <a:solidFill>
                  <a:srgbClr val="2B2B2B"/>
                </a:solidFill>
                <a:latin typeface="Calibri"/>
              </a:rPr>
              <a:t>e</a:t>
            </a:r>
          </a:p>
          <a:p>
            <a:pPr algn="ctr"/>
            <a:r>
              <a:rPr sz="1250" b="0" i="0" dirty="0">
                <a:solidFill>
                  <a:srgbClr val="2B2B2B"/>
                </a:solidFill>
                <a:latin typeface="Calibri"/>
              </a:rPr>
              <a:t>turns noise into a useful signal.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2F3C7E"/>
                </a:solidFill>
                <a:latin typeface="Cambria"/>
              </a:rPr>
              <a:t>The Dataset: Sentiment140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huge, real collection of tweets, each already tagged as positive or negative.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200400" cy="173736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32004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F9E795"/>
                </a:solidFill>
                <a:latin typeface="Cambria"/>
              </a:rPr>
              <a:t>1.6M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63240"/>
            <a:ext cx="2834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tweets in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3200400" cy="173736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2267712"/>
            <a:ext cx="32004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F9E795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063240"/>
            <a:ext cx="2834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sentiment classes
(positive / negative)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03120"/>
            <a:ext cx="3200400" cy="173736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2267712"/>
            <a:ext cx="32004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F9E795"/>
                </a:solidFill>
                <a:latin typeface="Cambria"/>
              </a:rPr>
              <a:t>50 /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3063240"/>
            <a:ext cx="2834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balanced split
between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What we did to get it ready: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617720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62856"/>
            <a:ext cx="9875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2B2B2B"/>
                </a:solidFill>
                <a:latin typeface="Calibri"/>
              </a:rPr>
              <a:t>Loaded the raw tweet text and sentiment labels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84648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84648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9784"/>
            <a:ext cx="9875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2B2B2B"/>
                </a:solidFill>
                <a:latin typeface="Calibri"/>
              </a:rPr>
              <a:t>Split into training (80%) and testing (20%) sets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751576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6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96712"/>
            <a:ext cx="9875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2B2B2B"/>
                </a:solidFill>
                <a:latin typeface="Calibri"/>
              </a:rPr>
              <a:t>Converted words into numbers the models can learn from (TF-IDF for classic models, tokenizers for CNN &amp; BERT)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Cambria"/>
              </a:rPr>
              <a:t>Our Approach: Try Five Models, Pick a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We didn't just build one model — we built five, from simple to state-of-the-art, and compared them fairly.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" y="2286000"/>
            <a:ext cx="1965960" cy="2286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95628" y="256032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95628" y="256032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429000"/>
            <a:ext cx="1783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2F3C7E"/>
                </a:solidFill>
                <a:latin typeface="Cambria"/>
              </a:rPr>
              <a:t>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822191"/>
            <a:ext cx="17830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Classic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3063240"/>
            <a:ext cx="25603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86000"/>
            <a:ext cx="1965960" cy="2286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63339" y="256032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63339" y="256032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29000"/>
            <a:ext cx="1783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2F3C7E"/>
                </a:solidFill>
                <a:latin typeface="Cambria"/>
              </a:rPr>
              <a:t>Naive Bayes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22191"/>
            <a:ext cx="17830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Classic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063240"/>
            <a:ext cx="25603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2" y="2286000"/>
            <a:ext cx="1965960" cy="2286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31052" y="256032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31052" y="256032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3429000"/>
            <a:ext cx="1783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2F3C7E"/>
                </a:solidFill>
                <a:latin typeface="Cambria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3822191"/>
            <a:ext cx="17830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Classic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063240"/>
            <a:ext cx="25603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81544" y="2286000"/>
            <a:ext cx="1965960" cy="2286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98764" y="256032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8764" y="256032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2983" y="3429000"/>
            <a:ext cx="1783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2F3C7E"/>
                </a:solidFill>
                <a:latin typeface="Cambria"/>
              </a:rPr>
              <a:t>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3" y="3822191"/>
            <a:ext cx="17830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  <a:latin typeface="Calibri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3063240"/>
            <a:ext cx="25603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9256" y="2286000"/>
            <a:ext cx="1965960" cy="228600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666476" y="2560320"/>
            <a:ext cx="731520" cy="73152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66476" y="2560320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2F3C7E"/>
                </a:solidFill>
                <a:latin typeface="Calibri"/>
              </a:rPr>
              <a:t>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0696" y="3429000"/>
            <a:ext cx="1783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BERT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0696" y="3822191"/>
            <a:ext cx="17830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F9E795"/>
                </a:solidFill>
                <a:latin typeface="Calibri"/>
              </a:rPr>
              <a:t>Transformer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2B2B2B"/>
                </a:solidFill>
                <a:latin typeface="Calibri"/>
              </a:rPr>
              <a:t>From “count the words” methods all the way to a model that reads full sentences in context.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2F3C7E"/>
                </a:solidFill>
                <a:latin typeface="Cambria"/>
              </a:rPr>
              <a:t>Round 1: The Classic Machine Learning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These models turn text into word-count style features (TF-IDF), then learn simple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84832"/>
            <a:ext cx="10881360" cy="12344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404872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0487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58568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mbria"/>
              </a:rPr>
              <a:t>K-Nearest Neighbors (KNN)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850" y="2286000"/>
            <a:ext cx="682371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Looks at the most similar tweets already seen and copies their label. Simple, but slow and the weakest performer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0881360" cy="12344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822192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75888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mbria"/>
              </a:rPr>
              <a:t>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588" y="3703320"/>
            <a:ext cx="6637972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A fast, probability-based model. Surprisingly strong — it beat a more complex model in our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10881360" cy="12344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5239512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73152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093208"/>
            <a:ext cx="4114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mbria"/>
              </a:rP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7688" y="5120640"/>
            <a:ext cx="6980872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A powerful tree-based model, great on many tasks — but needed more tuning to shine on this text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Cambria"/>
              </a:rPr>
              <a:t>Round 2: Going Deeper with a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Instead of counting words, this model learns meaning from pretrained word vectors (GloVe).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4572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2743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047070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Each word is converted into a vector using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GloVe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embeddings,</a:t>
            </a:r>
            <a:endParaRPr lang="en-US" sz="125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 capturing meaning from millions of other 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2743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91839"/>
            <a:ext cx="4623060" cy="3847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A convolutional layer scans the sentence for meaningful word patterns</a:t>
            </a:r>
            <a:endParaRPr lang="en-US" sz="125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250" b="0" i="0" dirty="0">
                <a:solidFill>
                  <a:srgbClr val="2B2B2B"/>
                </a:solidFill>
                <a:latin typeface="Calibri"/>
              </a:rPr>
              <a:t>, like a spell-checker for sentiment clues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2743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502920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2B2B2B"/>
                </a:solidFill>
                <a:latin typeface="Calibri"/>
              </a:rPr>
              <a:t>The signal is pooled down into one prediction: positive or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377440"/>
            <a:ext cx="1143000" cy="100584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377440"/>
            <a:ext cx="11430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Tweet
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70048"/>
            <a:ext cx="320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1143000" cy="100584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11430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GloVe
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670048"/>
            <a:ext cx="320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377440"/>
            <a:ext cx="1143000" cy="100584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11430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Conv1D
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2670048"/>
            <a:ext cx="320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0" y="2377440"/>
            <a:ext cx="1143000" cy="1005840"/>
          </a:xfrm>
          <a:prstGeom prst="round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64240" y="2377440"/>
            <a:ext cx="11430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F3C7E"/>
                </a:solidFill>
                <a:latin typeface="Calibri"/>
              </a:rPr>
              <a:t>Prediction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66360"/>
            <a:ext cx="10881360" cy="1005840"/>
          </a:xfrm>
          <a:prstGeom prst="round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9E795"/>
                </a:solidFill>
                <a:latin typeface="Cambria"/>
              </a:rPr>
              <a:t>Result: 77.1% accuracy — a clear step up from every classic ML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Round 3: BERT — The Star of the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 transformer model, pretrained on huge amounts of text, then fine-tuned on our tweets.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2F3C7E"/>
                </a:solidFill>
                <a:latin typeface="Calibri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48840"/>
            <a:ext cx="4572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9E795"/>
                </a:solidFill>
                <a:latin typeface="Cambria"/>
              </a:rPr>
              <a:t>Why BERT is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606040"/>
            <a:ext cx="4572000" cy="1188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Older models look at words mostly on their own. BERT reads the whole sentence at once and understands context — so it knows “not bad” is actually positive.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36576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31089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Base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02336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bert-base-uncased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26280"/>
            <a:ext cx="36576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31089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Fine-tuned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52628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20,000 training tweets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36576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029200"/>
            <a:ext cx="31089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Training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502920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 epochs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36576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532120"/>
            <a:ext cx="31089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Learning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532120"/>
            <a:ext cx="2926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2e-5 (AdamW optimizer)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057400"/>
            <a:ext cx="40233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Cambria"/>
              </a:rPr>
              <a:t>BERT Test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8036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96167"/>
                </a:solidFill>
                <a:latin typeface="Cambria"/>
              </a:rPr>
              <a:t>79.7%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47288"/>
            <a:ext cx="3291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4048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96167"/>
                </a:solidFill>
                <a:latin typeface="Cambria"/>
              </a:rPr>
              <a:t>79.8%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407408"/>
            <a:ext cx="3291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00600"/>
            <a:ext cx="18288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96167"/>
                </a:solidFill>
                <a:latin typeface="Cambria"/>
              </a:rPr>
              <a:t>87.1%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67528"/>
            <a:ext cx="3291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806440"/>
            <a:ext cx="347472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2F3C7E"/>
                </a:solidFill>
                <a:latin typeface="Calibri"/>
              </a:rPr>
              <a:t>Best score of all five models tested — despite training on the smallest slice of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Cambria"/>
              </a:rPr>
              <a:t>The Results: How Every Model Stacked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Accuracy on the held-out test data — higher is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868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KNN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21408"/>
            <a:ext cx="4315764" cy="38404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36004" y="2093976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Calibri"/>
              </a:rPr>
              <a:t>63.4%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52927"/>
            <a:ext cx="868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XGBoost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71215"/>
            <a:ext cx="4628896" cy="38404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49136" y="2843784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Calibri"/>
              </a:rPr>
              <a:t>68.0%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02735"/>
            <a:ext cx="868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Naive Bayes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621023"/>
            <a:ext cx="5064556" cy="38404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4796" y="3593591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Calibri"/>
              </a:rPr>
              <a:t>74.4%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52544"/>
            <a:ext cx="868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CNN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370831"/>
            <a:ext cx="5248351" cy="384048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68591" y="434340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Calibri"/>
              </a:rPr>
              <a:t>77.1%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868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BERT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120640"/>
            <a:ext cx="5425338" cy="38404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5578" y="5093208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Calibri"/>
              </a:rPr>
              <a:t>79.7%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Calibri"/>
              </a:rPr>
              <a:t>Quick takeaways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2468880"/>
            <a:ext cx="256032" cy="256032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2468880"/>
            <a:ext cx="2560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F3C7E"/>
                </a:solidFill>
                <a:latin typeface="Calibri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95728"/>
            <a:ext cx="329184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2B2B2B"/>
                </a:solidFill>
                <a:latin typeface="Calibri"/>
              </a:rPr>
              <a:t>BERT wins on every metric, even with far less training data than CNN saw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0" y="3429000"/>
            <a:ext cx="256032" cy="256032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3429000"/>
            <a:ext cx="2560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F3C7E"/>
                </a:solidFill>
                <a:latin typeface="Calibr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355848"/>
            <a:ext cx="329184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2B2B2B"/>
                </a:solidFill>
                <a:latin typeface="Calibri"/>
              </a:rPr>
              <a:t>Both deep learning models (BERT, CNN) beat all three classic ML models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0" y="4389120"/>
            <a:ext cx="256032" cy="256032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4389120"/>
            <a:ext cx="2560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F3C7E"/>
                </a:solidFill>
                <a:latin typeface="Calibr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15968"/>
            <a:ext cx="329184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2B2B2B"/>
                </a:solidFill>
                <a:latin typeface="Calibri"/>
              </a:rPr>
              <a:t>Naive Bayes edges out XGBoost — a nice reminder that simple models can surprise you</a:t>
            </a:r>
          </a:p>
        </p:txBody>
      </p:sp>
      <p:sp>
        <p:nvSpPr>
          <p:cNvPr id="29" name="Oval 28"/>
          <p:cNvSpPr/>
          <p:nvPr/>
        </p:nvSpPr>
        <p:spPr>
          <a:xfrm>
            <a:off x="7863840" y="5349240"/>
            <a:ext cx="256032" cy="256032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5349240"/>
            <a:ext cx="2560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F3C7E"/>
                </a:solidFill>
                <a:latin typeface="Calibri"/>
              </a:rP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276088"/>
            <a:ext cx="329184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2B2B2B"/>
                </a:solidFill>
                <a:latin typeface="Calibri"/>
              </a:rPr>
              <a:t>KNN trails the pack and was also the slowest to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Cambria"/>
              </a:rPr>
              <a:t>Making BERT Explain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high score is nice, but can we trust the model? We used LIME to see which words drove each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0881360" cy="17373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Example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286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2B2B2B"/>
                </a:solidFill>
                <a:latin typeface="Cambria"/>
              </a:rPr>
              <a:t>“I absolutely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651760"/>
            <a:ext cx="91440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651760"/>
            <a:ext cx="9144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loved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51760"/>
            <a:ext cx="2560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2B2B2B"/>
                </a:solidFill>
                <a:latin typeface="Cambria"/>
              </a:rPr>
              <a:t> this movie”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2F3C7E"/>
                </a:solidFill>
                <a:latin typeface="Calibri"/>
              </a:rPr>
              <a:t>Prediction: Positive  •  Confidence: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  <a:latin typeface="Calibri"/>
              </a:rPr>
              <a:t>LIME shows the word “loved” carried almost all the weight behind this decision — exactly what a human would point to.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59436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114800"/>
            <a:ext cx="26517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Cambria"/>
              </a:rPr>
              <a:t>Spot-checks 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3555460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 dirty="0">
                <a:solidFill>
                  <a:srgbClr val="2B2B2B"/>
                </a:solidFill>
                <a:latin typeface="Calibri"/>
              </a:rPr>
              <a:t>See exactly which words pushed the model toward positive</a:t>
            </a:r>
            <a:endParaRPr lang="en-US" sz="115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50" b="0" i="0" dirty="0">
                <a:solidFill>
                  <a:srgbClr val="2B2B2B"/>
                </a:solidFill>
                <a:latin typeface="Calibri"/>
              </a:rPr>
              <a:t> or negative.</a:t>
            </a:r>
          </a:p>
        </p:txBody>
      </p:sp>
      <p:sp>
        <p:nvSpPr>
          <p:cNvPr id="16" name="Oval 15"/>
          <p:cNvSpPr/>
          <p:nvPr/>
        </p:nvSpPr>
        <p:spPr>
          <a:xfrm>
            <a:off x="4361688" y="4160520"/>
            <a:ext cx="594360" cy="59436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4160520"/>
            <a:ext cx="59436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4114800"/>
            <a:ext cx="26517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Cambria"/>
              </a:rPr>
              <a:t>Debugs mistakes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4846320"/>
            <a:ext cx="3393558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 dirty="0">
                <a:solidFill>
                  <a:srgbClr val="2B2B2B"/>
                </a:solidFill>
                <a:latin typeface="Calibri"/>
              </a:rPr>
              <a:t>We also ran LIME on a wrong prediction to understand </a:t>
            </a:r>
            <a:endParaRPr lang="en-US" sz="115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50" b="0" i="0" dirty="0">
                <a:solidFill>
                  <a:srgbClr val="2B2B2B"/>
                </a:solidFill>
                <a:latin typeface="Calibri"/>
              </a:rPr>
              <a:t>where the model got confused.</a:t>
            </a:r>
          </a:p>
        </p:txBody>
      </p:sp>
      <p:sp>
        <p:nvSpPr>
          <p:cNvPr id="20" name="Oval 19"/>
          <p:cNvSpPr/>
          <p:nvPr/>
        </p:nvSpPr>
        <p:spPr>
          <a:xfrm>
            <a:off x="8083296" y="4160520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83296" y="4160520"/>
            <a:ext cx="59436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4114800"/>
            <a:ext cx="26517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Cambria"/>
              </a:rPr>
              <a:t>Builds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4846320"/>
            <a:ext cx="3230051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 i="0" dirty="0" err="1">
                <a:solidFill>
                  <a:srgbClr val="2B2B2B"/>
                </a:solidFill>
                <a:latin typeface="Calibri"/>
              </a:rPr>
              <a:t>Explainability</a:t>
            </a:r>
            <a:r>
              <a:rPr sz="1150" b="0" i="0" dirty="0">
                <a:solidFill>
                  <a:srgbClr val="2B2B2B"/>
                </a:solidFill>
                <a:latin typeface="Calibri"/>
              </a:rPr>
              <a:t> turns a black box into something a team</a:t>
            </a:r>
            <a:endParaRPr lang="en-US" sz="115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50" b="0" i="0" dirty="0">
                <a:solidFill>
                  <a:srgbClr val="2B2B2B"/>
                </a:solidFill>
                <a:latin typeface="Calibri"/>
              </a:rPr>
              <a:t> — or a client — can actually verify.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What We Learned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F3C7E"/>
                </a:solidFill>
                <a:latin typeface="Calibri"/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08760"/>
            <a:ext cx="9692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Context beats word-counting — BERT and CNN outperformed every classic ML model on every metric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F3C7E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23160"/>
            <a:ext cx="9692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BERT reached the top score with far less training data, showing the power of pretraining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F3C7E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37560"/>
            <a:ext cx="9692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Simple models still have a place — Naive Bayes stayed competitive with almost no tuning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F3C7E"/>
                </a:solidFill>
                <a:latin typeface="Calibri"/>
              </a:rPr>
              <a:t>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51960"/>
            <a:ext cx="96926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Explainability (LIME) matters as much as accuracy for a model people can actually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77840"/>
            <a:ext cx="18288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9601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Vibe Check AI: five models, one clear winner, and a system we can explain.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00800"/>
            <a:ext cx="365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400" b="1" i="0">
                <a:solidFill>
                  <a:srgbClr val="2F3C7E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Questions about Vibe Check AI?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939</Words>
  <Application>Microsoft Office PowerPoint</Application>
  <PresentationFormat>Widescreen</PresentationFormat>
  <Paragraphs>171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dream</dc:creator>
  <cp:keywords/>
  <dc:description>generated using python-pptx</dc:description>
  <cp:lastModifiedBy>dream</cp:lastModifiedBy>
  <cp:revision>3</cp:revision>
  <dcterms:created xsi:type="dcterms:W3CDTF">2013-01-27T09:14:16Z</dcterms:created>
  <dcterms:modified xsi:type="dcterms:W3CDTF">2026-08-27T15:06:28Z</dcterms:modified>
  <cp:category/>
</cp:coreProperties>
</file>